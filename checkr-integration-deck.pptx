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-1097280"/>
            <a:ext cx="4572000" cy="2743200"/>
          </a:xfrm>
          <a:prstGeom prst="ellipse">
            <a:avLst/>
          </a:prstGeom>
          <a:solidFill>
            <a:srgbClr val="1A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INTEGRATION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Match Fit</a:t>
            </a:r>
          </a:p>
          <a:p>
            <a:pPr algn="ctr">
              <a:spcBef>
                <a:spcPts val="200"/>
              </a:spcBef>
            </a:pPr>
            <a:r>
              <a:rPr sz="4400" b="1" i="0">
                <a:solidFill>
                  <a:srgbClr val="FF7E00"/>
                </a:solidFill>
                <a:latin typeface="Calibri"/>
              </a:rPr>
              <a:t>× Checkr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9DADC"/>
                </a:solidFill>
                <a:latin typeface="Calibri"/>
              </a:rPr>
              <a:t>Background Check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CA8"/>
                </a:solidFill>
                <a:latin typeface="Calibri"/>
              </a:rPr>
              <a:t>A seamless, FCRA-compliant screening experience for
the Match Fit trainer 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4160520"/>
            <a:ext cx="1371600" cy="274320"/>
          </a:xfrm>
          <a:prstGeom prst="rect">
            <a:avLst/>
          </a:prstGeom>
          <a:solidFill>
            <a:srgbClr val="12151C"/>
          </a:solidFill>
          <a:ln w="63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9CA8"/>
                </a:solidFill>
                <a:latin typeface="Calibri"/>
              </a:rPr>
              <a:t>Job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4160520"/>
            <a:ext cx="1371600" cy="274320"/>
          </a:xfrm>
          <a:prstGeom prst="rect">
            <a:avLst/>
          </a:prstGeom>
          <a:solidFill>
            <a:srgbClr val="12151C"/>
          </a:solidFill>
          <a:ln w="63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9CA8"/>
                </a:solidFill>
                <a:latin typeface="Calibri"/>
              </a:rPr>
              <a:t>Order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160520"/>
            <a:ext cx="1371600" cy="274320"/>
          </a:xfrm>
          <a:prstGeom prst="rect">
            <a:avLst/>
          </a:prstGeom>
          <a:solidFill>
            <a:srgbClr val="12151C"/>
          </a:solidFill>
          <a:ln w="63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9CA8"/>
                </a:solidFill>
                <a:latin typeface="Calibri"/>
              </a:rPr>
              <a:t>Monitor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CA8"/>
                </a:solidFill>
                <a:latin typeface="Calibri"/>
              </a:rPr>
              <a:t>Three steps connect a job posting to a verified, compliant trainer background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331720"/>
            <a:ext cx="6035040" cy="27432"/>
          </a:xfrm>
          <a:prstGeom prst="rect">
            <a:avLst/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468880" cy="29260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554480"/>
            <a:ext cx="548640" cy="548640"/>
          </a:xfrm>
          <a:prstGeom prst="ellipse">
            <a:avLst/>
          </a:prstGeom>
          <a:solidFill>
            <a:srgbClr val="331A00"/>
          </a:solidFill>
          <a:ln w="1524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5486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E0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Job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CA8"/>
                </a:solidFill>
                <a:latin typeface="Calibri"/>
              </a:rPr>
              <a:t>Associate a Checkr background check
package (Standard or Pro) directly
to a trainer role listing.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468880" cy="29260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331A00"/>
          </a:solidFill>
          <a:ln w="1524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36192"/>
            <a:ext cx="5486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E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Order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3347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CA8"/>
                </a:solidFill>
                <a:latin typeface="Calibri"/>
              </a:rPr>
              <a:t>Select the screening package, node,
and work location for the candidate.
Checkr sends consent invite.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417320"/>
            <a:ext cx="2468880" cy="29260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1554480"/>
            <a:ext cx="548640" cy="548640"/>
          </a:xfrm>
          <a:prstGeom prst="ellipse">
            <a:avLst/>
          </a:prstGeom>
          <a:solidFill>
            <a:srgbClr val="331A00"/>
          </a:solidFill>
          <a:ln w="1524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536192"/>
            <a:ext cx="5486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E0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3347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CA8"/>
                </a:solidFill>
                <a:latin typeface="Calibri"/>
              </a:rPr>
              <a:t>Track report components in real time
and jump to the full Checkr dashboard
when components complete.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1 OF 3  ·  JOB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Associate a Background Check to a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023360" cy="36118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Personal Trainer — In-Home &amp;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Match Fit Platform  ·  Posted May 18,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840480" cy="347472"/>
          </a:xfrm>
          <a:prstGeom prst="rect">
            <a:avLst/>
          </a:prstGeom>
          <a:solidFill>
            <a:srgbClr val="0E1016"/>
          </a:solidFill>
          <a:ln w="635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928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D5E"/>
                </a:solidFill>
                <a:latin typeface="Calibri"/>
              </a:rPr>
              <a:t>Role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92807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ADC"/>
                </a:solidFill>
                <a:latin typeface="Calibri"/>
              </a:rPr>
              <a:t>Independent Contractor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13432"/>
            <a:ext cx="3840480" cy="347472"/>
          </a:xfrm>
          <a:prstGeom prst="rect">
            <a:avLst/>
          </a:prstGeom>
          <a:solidFill>
            <a:srgbClr val="0E1016"/>
          </a:solidFill>
          <a:ln w="635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D5E"/>
                </a:solidFill>
                <a:latin typeface="Calibri"/>
              </a:rP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31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ADC"/>
                </a:solidFill>
                <a:latin typeface="Calibri"/>
              </a:rPr>
              <a:t>New York, NY (5-mi radius)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52344"/>
            <a:ext cx="3840480" cy="347472"/>
          </a:xfrm>
          <a:prstGeom prst="rect">
            <a:avLst/>
          </a:prstGeom>
          <a:solidFill>
            <a:srgbClr val="0E1016"/>
          </a:solidFill>
          <a:ln w="635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D5E"/>
                </a:solidFill>
                <a:latin typeface="Calibri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70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ADC"/>
                </a:solidFill>
                <a:latin typeface="Calibri"/>
              </a:rPr>
              <a:t>1:1 Training, Nutrition, Online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91256"/>
            <a:ext cx="3840480" cy="347472"/>
          </a:xfrm>
          <a:prstGeom prst="rect">
            <a:avLst/>
          </a:prstGeom>
          <a:solidFill>
            <a:srgbClr val="0E1016"/>
          </a:solidFill>
          <a:ln w="635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209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D5E"/>
                </a:solidFill>
                <a:latin typeface="Calibri"/>
              </a:rPr>
              <a:t>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3255264"/>
            <a:ext cx="1504188" cy="201168"/>
          </a:xfrm>
          <a:prstGeom prst="rect">
            <a:avLst/>
          </a:prstGeom>
          <a:solidFill>
            <a:srgbClr val="2B2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255264"/>
            <a:ext cx="1504188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⚑  Check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097280"/>
            <a:ext cx="4206240" cy="36118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170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E00"/>
                </a:solidFill>
                <a:latin typeface="Calibri"/>
              </a:rPr>
              <a:t>Background Check Association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444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CA8"/>
                </a:solidFill>
                <a:latin typeface="Calibri"/>
              </a:rPr>
              <a:t>Select the required screening package for this role.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1874519"/>
            <a:ext cx="3931920" cy="749808"/>
          </a:xfrm>
          <a:prstGeom prst="rect">
            <a:avLst/>
          </a:prstGeom>
          <a:solidFill>
            <a:srgbClr val="1A0E00"/>
          </a:solidFill>
          <a:ln w="1524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929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2203703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Criminal, SSN, Sex Offender · Recommended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9293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7E00"/>
                </a:solidFill>
                <a:latin typeface="Calibri"/>
              </a:rPr>
              <a:t>✓ SELECTED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8" y="2743200"/>
            <a:ext cx="3931920" cy="749808"/>
          </a:xfrm>
          <a:prstGeom prst="rect">
            <a:avLst/>
          </a:prstGeom>
          <a:solidFill>
            <a:srgbClr val="0E1016"/>
          </a:solidFill>
          <a:ln w="762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9744" y="27980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307238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Standard + Employment &amp; Education Verify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4462272"/>
            <a:ext cx="1737360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462272"/>
            <a:ext cx="1737360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✓  Association Saved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2 OF 3  ·  ORDER  › 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Select Screening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CA8"/>
                </a:solidFill>
                <a:latin typeface="Calibri"/>
              </a:rPr>
              <a:t>Choose the package that matches this role's risk level. Standard is pre-selected based on job association.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3383280"/>
          </a:xfrm>
          <a:prstGeom prst="rect">
            <a:avLst/>
          </a:prstGeom>
          <a:solidFill>
            <a:srgbClr val="12151C"/>
          </a:solidFill>
          <a:ln w="762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CA8"/>
                </a:solidFill>
                <a:latin typeface="Calibri"/>
              </a:rPr>
              <a:t>SSN Trace · National Criminal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SSN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National Criminal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371600"/>
            <a:ext cx="2788920" cy="3383280"/>
          </a:xfrm>
          <a:prstGeom prst="rect">
            <a:avLst/>
          </a:prstGeom>
          <a:solidFill>
            <a:srgbClr val="1A0E00"/>
          </a:solidFill>
          <a:ln w="1905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7E00"/>
                </a:solidFill>
                <a:latin typeface="Calibri"/>
              </a:rPr>
              <a:t>PRE-SELECTED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0574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CA8"/>
                </a:solidFill>
                <a:latin typeface="Calibri"/>
              </a:rPr>
              <a:t>Recommended for in-person trainer roles with adult clients.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517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Calibri"/>
              </a:rPr>
              <a:t>✓  SSN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8895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Calibri"/>
              </a:rPr>
              <a:t>✓  National Criminal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127248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Calibri"/>
              </a:rPr>
              <a:t>✓  Sex Offender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364991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Calibri"/>
              </a:rPr>
              <a:t>✓  County Criminal (7 yr)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4480560"/>
            <a:ext cx="2788920" cy="274320"/>
          </a:xfrm>
          <a:prstGeom prst="rect">
            <a:avLst/>
          </a:prstGeom>
          <a:solidFill>
            <a:srgbClr val="281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44897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E00"/>
                </a:solidFill>
                <a:latin typeface="Calibri"/>
              </a:rPr>
              <a:t>✓  Standard Selected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371600"/>
            <a:ext cx="2788920" cy="3383280"/>
          </a:xfrm>
          <a:prstGeom prst="rect">
            <a:avLst/>
          </a:prstGeom>
          <a:solidFill>
            <a:srgbClr val="12151C"/>
          </a:solidFill>
          <a:ln w="762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1481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CA8"/>
                </a:solidFill>
                <a:latin typeface="Calibri"/>
              </a:rPr>
              <a:t>Full screening for trainers working with minors or high-trust clients.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Everything in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6609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Employment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898648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Education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136391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✓  Federal Criminal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2 OF 3  ·  ORDER  › 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Select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CA8"/>
                </a:solidFill>
                <a:latin typeface="Calibri"/>
              </a:rPr>
              <a:t>Nodes represent the compliance context for this check — they determine report routing and adverse action workflows in Checkr.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3383280"/>
          </a:xfrm>
          <a:prstGeom prst="rect">
            <a:avLst/>
          </a:prstGeom>
          <a:solidFill>
            <a:srgbClr val="1A0E00"/>
          </a:solidFill>
          <a:ln w="1905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Match Fit Platform
—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CA8"/>
                </a:solidFill>
                <a:latin typeface="Calibri"/>
              </a:rPr>
              <a:t>Standard node for in-person trainer
roles. Routes to Match Fit compliance.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In-Person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Adult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E00"/>
                </a:solidFill>
                <a:latin typeface="Calibri"/>
              </a:rPr>
              <a:t>✓  SELECTED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371600"/>
            <a:ext cx="2788920" cy="3383280"/>
          </a:xfrm>
          <a:prstGeom prst="rect">
            <a:avLst/>
          </a:prstGeom>
          <a:solidFill>
            <a:srgbClr val="12151C"/>
          </a:solidFill>
          <a:ln w="762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48132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Match Fit —
Minors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1488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CA8"/>
                </a:solidFill>
                <a:latin typeface="Calibri"/>
              </a:rPr>
              <a:t>Elevated node for trainers working
with clients under 18.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8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Minors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Enhanced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371600"/>
            <a:ext cx="2788920" cy="3383280"/>
          </a:xfrm>
          <a:prstGeom prst="rect">
            <a:avLst/>
          </a:prstGeom>
          <a:solidFill>
            <a:srgbClr val="12151C"/>
          </a:solidFill>
          <a:ln w="762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148132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Studio / Gym
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1488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CA8"/>
                </a:solidFill>
                <a:latin typeface="Calibri"/>
              </a:rPr>
              <a:t>For trainers placed in partner
facility locations.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Facility-Based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2852928"/>
            <a:ext cx="1097280" cy="219456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28620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9CA8"/>
                </a:solidFill>
                <a:latin typeface="Calibri"/>
              </a:rPr>
              <a:t>B2B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70832"/>
            <a:ext cx="8503920" cy="548640"/>
          </a:xfrm>
          <a:prstGeom prst="rect">
            <a:avLst/>
          </a:prstGeom>
          <a:solidFill>
            <a:srgbClr val="141824"/>
          </a:solidFill>
          <a:ln w="6350">
            <a:solidFill>
              <a:srgbClr val="1E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0740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Note:  Nodes are configured in your Checkr account. Each node can have unique adverse action workflows and report routing rules.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2 OF 3  ·  ORDER  ›  WORK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Select Work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CA8"/>
                </a:solidFill>
                <a:latin typeface="Calibri"/>
              </a:rPr>
              <a:t>The state and city determine which county criminal searches are run to meet local compliance requirements.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4160520" cy="342900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1828800" cy="530352"/>
          </a:xfrm>
          <a:prstGeom prst="rect">
            <a:avLst/>
          </a:prstGeom>
          <a:solidFill>
            <a:srgbClr val="1A0E00"/>
          </a:solidFill>
          <a:ln w="1524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New York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E00"/>
                </a:solidFill>
                <a:latin typeface="Calibri"/>
              </a:rPr>
              <a:t>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75564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7E00"/>
                </a:solidFill>
                <a:latin typeface="Calibr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719072"/>
            <a:ext cx="1828800" cy="53035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7556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California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99339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27688"/>
                </a:solidFill>
                <a:latin typeface="Calibri"/>
              </a:rPr>
              <a:t>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68296"/>
            <a:ext cx="1828800" cy="53035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04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Texas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426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27688"/>
                </a:solidFill>
                <a:latin typeface="Calibri"/>
              </a:rPr>
              <a:t>TX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368296"/>
            <a:ext cx="1828800" cy="53035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404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Florida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6426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27688"/>
                </a:solidFill>
                <a:latin typeface="Calibri"/>
              </a:rPr>
              <a:t>FL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1828800" cy="53035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540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Illinois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91839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27688"/>
                </a:solidFill>
                <a:latin typeface="Calibri"/>
              </a:rPr>
              <a:t>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017520"/>
            <a:ext cx="1828800" cy="53035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30540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Washington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291839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27688"/>
                </a:solidFill>
                <a:latin typeface="Calibri"/>
              </a:rPr>
              <a:t>WA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371600"/>
            <a:ext cx="4160520" cy="342900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44475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CITY / METRO 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719072"/>
            <a:ext cx="3931920" cy="438912"/>
          </a:xfrm>
          <a:prstGeom prst="rect">
            <a:avLst/>
          </a:prstGeom>
          <a:solidFill>
            <a:srgbClr val="0E1016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17739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DADC"/>
                </a:solidFill>
                <a:latin typeface="Calibri"/>
              </a:rPr>
              <a:t>New York City (5 Boroughs)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1773936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4D5E"/>
                </a:solidFill>
                <a:latin typeface="Calibri"/>
              </a:rPr>
              <a:t>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28600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COUNTIES TO BE SEARCHED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578608"/>
            <a:ext cx="3931920" cy="274320"/>
          </a:xfrm>
          <a:prstGeom prst="rect">
            <a:avLst/>
          </a:prstGeom>
          <a:solidFill>
            <a:srgbClr val="0E1016"/>
          </a:solidFill>
          <a:ln w="508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606039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New York County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907791"/>
            <a:ext cx="3931920" cy="274320"/>
          </a:xfrm>
          <a:prstGeom prst="rect">
            <a:avLst/>
          </a:prstGeom>
          <a:solidFill>
            <a:srgbClr val="0E1016"/>
          </a:solidFill>
          <a:ln w="508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2935223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Kings County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236976"/>
            <a:ext cx="3931920" cy="274320"/>
          </a:xfrm>
          <a:prstGeom prst="rect">
            <a:avLst/>
          </a:prstGeom>
          <a:solidFill>
            <a:srgbClr val="0E1016"/>
          </a:solidFill>
          <a:ln w="508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32644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Queens County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solidFill>
            <a:srgbClr val="0E1016"/>
          </a:solidFill>
          <a:ln w="508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3593591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Bronx County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895344"/>
            <a:ext cx="3931920" cy="274320"/>
          </a:xfrm>
          <a:prstGeom prst="rect">
            <a:avLst/>
          </a:prstGeom>
          <a:solidFill>
            <a:srgbClr val="0E1016"/>
          </a:solidFill>
          <a:ln w="508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392277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✓  Richmond County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2 OF 3  ·  ORDER  › 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Review &amp;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CA8"/>
                </a:solidFill>
                <a:latin typeface="Calibri"/>
              </a:rPr>
              <a:t>Confirm details before submitting. Checkr will send the candidate a FCRA-compliant consent invitation.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303520" cy="3154680"/>
          </a:xfrm>
          <a:prstGeom prst="rect">
            <a:avLst/>
          </a:prstGeom>
          <a:solidFill>
            <a:srgbClr val="1A0E00"/>
          </a:solidFill>
          <a:ln w="9525">
            <a:solidFill>
              <a:srgbClr val="33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481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Marcus T. · Trainer ID #2847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5120640" cy="9144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47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Standard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40864"/>
            <a:ext cx="5120640" cy="9144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140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140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Match Fit Platform — Default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07208"/>
            <a:ext cx="5120640" cy="9144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Work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80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New York, NY · 5 Counties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73552"/>
            <a:ext cx="5120640" cy="9144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Invite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3467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Email via Checkr (FCRA-compliant)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39896"/>
            <a:ext cx="5120640" cy="9144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130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7688"/>
                </a:solidFill>
                <a:latin typeface="Calibri"/>
              </a:rPr>
              <a:t>Est. Turnaround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8130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1–3 business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371600"/>
            <a:ext cx="2971800" cy="3154680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1463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WHAT HAPPENS NEXT</a:t>
            </a:r>
          </a:p>
        </p:txBody>
      </p:sp>
      <p:sp>
        <p:nvSpPr>
          <p:cNvPr id="27" name="Oval 26"/>
          <p:cNvSpPr/>
          <p:nvPr/>
        </p:nvSpPr>
        <p:spPr>
          <a:xfrm>
            <a:off x="6016752" y="1801368"/>
            <a:ext cx="274320" cy="27432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1783080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18196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Checkr emails Marcus a consent form</a:t>
            </a:r>
          </a:p>
        </p:txBody>
      </p:sp>
      <p:sp>
        <p:nvSpPr>
          <p:cNvPr id="30" name="Oval 29"/>
          <p:cNvSpPr/>
          <p:nvPr/>
        </p:nvSpPr>
        <p:spPr>
          <a:xfrm>
            <a:off x="6016752" y="2377440"/>
            <a:ext cx="274320" cy="27432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235915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395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Marcus completes FCRA disclosure</a:t>
            </a:r>
          </a:p>
        </p:txBody>
      </p:sp>
      <p:sp>
        <p:nvSpPr>
          <p:cNvPr id="33" name="Oval 32"/>
          <p:cNvSpPr/>
          <p:nvPr/>
        </p:nvSpPr>
        <p:spPr>
          <a:xfrm>
            <a:off x="6016752" y="2953512"/>
            <a:ext cx="274320" cy="27432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293522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971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Screening begins immediately</a:t>
            </a:r>
          </a:p>
        </p:txBody>
      </p:sp>
      <p:sp>
        <p:nvSpPr>
          <p:cNvPr id="36" name="Oval 35"/>
          <p:cNvSpPr/>
          <p:nvPr/>
        </p:nvSpPr>
        <p:spPr>
          <a:xfrm>
            <a:off x="6016752" y="3529584"/>
            <a:ext cx="274320" cy="27432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3511296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547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Results appear in Match Fit + Checkr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63440"/>
            <a:ext cx="5303520" cy="320040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663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Submit Background Check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3 OF 3  · 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Monitor Background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Marcus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7688"/>
                </a:solidFill>
                <a:latin typeface="Calibri"/>
              </a:rPr>
              <a:t>Trainer ID #2847  ·  Ordered May 19,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161288"/>
            <a:ext cx="1193292" cy="201168"/>
          </a:xfrm>
          <a:prstGeom prst="rect">
            <a:avLst/>
          </a:prstGeom>
          <a:solidFill>
            <a:srgbClr val="2B2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161288"/>
            <a:ext cx="1193292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●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2697480" cy="548640"/>
          </a:xfrm>
          <a:prstGeom prst="rect">
            <a:avLst/>
          </a:prstGeom>
          <a:solidFill>
            <a:srgbClr val="12151C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09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664208"/>
            <a:ext cx="2697480" cy="548640"/>
          </a:xfrm>
          <a:prstGeom prst="rect">
            <a:avLst/>
          </a:prstGeom>
          <a:solidFill>
            <a:srgbClr val="12151C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709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MF 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1664208"/>
            <a:ext cx="2697480" cy="548640"/>
          </a:xfrm>
          <a:prstGeom prst="rect">
            <a:avLst/>
          </a:prstGeom>
          <a:solidFill>
            <a:srgbClr val="12151C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709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920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New York, 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31720"/>
            <a:ext cx="8503920" cy="2029968"/>
          </a:xfrm>
          <a:prstGeom prst="rect">
            <a:avLst/>
          </a:prstGeom>
          <a:solidFill>
            <a:srgbClr val="12151C"/>
          </a:solidFill>
          <a:ln w="6350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331720"/>
            <a:ext cx="8503920" cy="320040"/>
          </a:xfrm>
          <a:prstGeom prst="rect">
            <a:avLst/>
          </a:prstGeom>
          <a:solidFill>
            <a:srgbClr val="0E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D5E"/>
                </a:solidFill>
                <a:latin typeface="Calibri"/>
              </a:rP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D5E"/>
                </a:solidFill>
                <a:latin typeface="Calibri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4D5E"/>
                </a:solidFill>
                <a:latin typeface="Calibri"/>
              </a:rPr>
              <a:t>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51760"/>
            <a:ext cx="8503920" cy="411480"/>
          </a:xfrm>
          <a:prstGeom prst="rect">
            <a:avLst/>
          </a:prstGeom>
          <a:solidFill>
            <a:srgbClr val="10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432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9DADC"/>
                </a:solidFill>
                <a:latin typeface="Calibri"/>
              </a:rPr>
              <a:t>SSN Trace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743200"/>
            <a:ext cx="822960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743200"/>
            <a:ext cx="822960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Calibri"/>
              </a:rPr>
              <a:t>✓  Clear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154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9DADC"/>
                </a:solidFill>
                <a:latin typeface="Calibri"/>
              </a:rPr>
              <a:t>National Criminal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154680"/>
            <a:ext cx="822960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154680"/>
            <a:ext cx="822960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154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Calibri"/>
              </a:rPr>
              <a:t>✓  Clear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74720"/>
            <a:ext cx="8503920" cy="411480"/>
          </a:xfrm>
          <a:prstGeom prst="rect">
            <a:avLst/>
          </a:prstGeom>
          <a:solidFill>
            <a:srgbClr val="10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661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9DADC"/>
                </a:solidFill>
                <a:latin typeface="Calibri"/>
              </a:rPr>
              <a:t>Sex Offender Registry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66160"/>
            <a:ext cx="822960" cy="201168"/>
          </a:xfrm>
          <a:prstGeom prst="rect">
            <a:avLst/>
          </a:prstGeom>
          <a:solidFill>
            <a:srgbClr val="0D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566160"/>
            <a:ext cx="822960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66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Calibri"/>
              </a:rPr>
              <a:t>✓  Clear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97763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9DADC"/>
                </a:solidFill>
                <a:latin typeface="Calibri"/>
              </a:rPr>
              <a:t>County Criminal (7 yr)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977639"/>
            <a:ext cx="822960" cy="201168"/>
          </a:xfrm>
          <a:prstGeom prst="rect">
            <a:avLst/>
          </a:prstGeom>
          <a:solidFill>
            <a:srgbClr val="2B2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977639"/>
            <a:ext cx="822960" cy="201168"/>
          </a:xfrm>
          <a:prstGeom prst="rect">
            <a:avLst/>
          </a:prstGeom>
          <a:noFill/>
        </p:spPr>
        <p:txBody>
          <a:bodyPr wrap="none" lIns="54864" rIns="54864" tIns="9144" bIns="9144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Pending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D5E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STEP 3 OF 3  ·  MONITOR  ·  DASHBOARD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Full Report via Checkr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206240" cy="3822191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ACTIVITY TIMELINE</a:t>
            </a:r>
          </a:p>
        </p:txBody>
      </p:sp>
      <p:sp>
        <p:nvSpPr>
          <p:cNvPr id="8" name="Oval 7"/>
          <p:cNvSpPr/>
          <p:nvPr/>
        </p:nvSpPr>
        <p:spPr>
          <a:xfrm>
            <a:off x="438912" y="1481328"/>
            <a:ext cx="256032" cy="256032"/>
          </a:xfrm>
          <a:prstGeom prst="ellipse">
            <a:avLst/>
          </a:prstGeom>
          <a:solidFill>
            <a:srgbClr val="0D2B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6304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" y="1737360"/>
            <a:ext cx="45720" cy="384048"/>
          </a:xfrm>
          <a:prstGeom prst="rect">
            <a:avLst/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8132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Check ordered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0078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D5E"/>
                </a:solidFill>
                <a:latin typeface="Calibri"/>
              </a:rPr>
              <a:t>May 19 · 9:14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65376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CA8"/>
                </a:solidFill>
                <a:latin typeface="Calibri"/>
              </a:rPr>
              <a:t>Invitation sent via Checkr email.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" y="2121408"/>
            <a:ext cx="256032" cy="256032"/>
          </a:xfrm>
          <a:prstGeom prst="ellipse">
            <a:avLst/>
          </a:prstGeom>
          <a:solidFill>
            <a:srgbClr val="0D2B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1031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" y="2377440"/>
            <a:ext cx="45720" cy="384048"/>
          </a:xfrm>
          <a:prstGeom prst="rect">
            <a:avLst/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12140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Candidate authorized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34086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D5E"/>
                </a:solidFill>
                <a:latin typeface="Calibri"/>
              </a:rPr>
              <a:t>May 19 · 10:02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505456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CA8"/>
                </a:solidFill>
                <a:latin typeface="Calibri"/>
              </a:rPr>
              <a:t>FCRA consent completed by Marcus.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" y="2761488"/>
            <a:ext cx="256032" cy="256032"/>
          </a:xfrm>
          <a:prstGeom prst="ellipse">
            <a:avLst/>
          </a:prstGeom>
          <a:solidFill>
            <a:srgbClr val="0D2B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74320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" y="3017520"/>
            <a:ext cx="45720" cy="384048"/>
          </a:xfrm>
          <a:prstGeom prst="rect">
            <a:avLst/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76148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Initial components returned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98094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D5E"/>
                </a:solidFill>
                <a:latin typeface="Calibri"/>
              </a:rPr>
              <a:t>May 19 · 11:47 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145536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CA8"/>
                </a:solidFill>
                <a:latin typeface="Calibri"/>
              </a:rPr>
              <a:t>SSN, National, Sex Offender — Clear.</a:t>
            </a:r>
          </a:p>
        </p:txBody>
      </p:sp>
      <p:sp>
        <p:nvSpPr>
          <p:cNvPr id="26" name="Oval 25"/>
          <p:cNvSpPr/>
          <p:nvPr/>
        </p:nvSpPr>
        <p:spPr>
          <a:xfrm>
            <a:off x="438912" y="3401568"/>
            <a:ext cx="256032" cy="256032"/>
          </a:xfrm>
          <a:prstGeom prst="ellipse">
            <a:avLst/>
          </a:prstGeom>
          <a:solidFill>
            <a:srgbClr val="2B210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383279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Calibri"/>
              </a:rPr>
              <a:t>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" y="3657600"/>
            <a:ext cx="45720" cy="384048"/>
          </a:xfrm>
          <a:prstGeom prst="rect">
            <a:avLst/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4015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County search in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62102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D5E"/>
                </a:solidFill>
                <a:latin typeface="Calibri"/>
              </a:rPr>
              <a:t>Est. May 20–21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785615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CA8"/>
                </a:solidFill>
                <a:latin typeface="Calibri"/>
              </a:rPr>
              <a:t>New York courts being searched.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" y="4041648"/>
            <a:ext cx="256032" cy="256032"/>
          </a:xfrm>
          <a:prstGeom prst="ellipse">
            <a:avLst/>
          </a:prstGeom>
          <a:solidFill>
            <a:srgbClr val="0E1016"/>
          </a:solidFill>
          <a:ln w="12700">
            <a:solidFill>
              <a:srgbClr val="4A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02336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4D5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04164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 finalized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26110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D5E"/>
                </a:solidFill>
                <a:latin typeface="Calibri"/>
              </a:rPr>
              <a:t>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1078992"/>
            <a:ext cx="4160520" cy="3822191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117043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REPORT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1444752"/>
            <a:ext cx="502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View in Checkr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4688" y="17739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Report ID: chk_8f3k2mzx91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1417320"/>
            <a:ext cx="3977639" cy="932688"/>
          </a:xfrm>
          <a:prstGeom prst="rect">
            <a:avLst/>
          </a:prstGeom>
          <a:solidFill>
            <a:srgbClr val="06143A"/>
          </a:solidFill>
          <a:ln w="9525">
            <a:solidFill>
              <a:srgbClr val="1E3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92040" y="1472184"/>
            <a:ext cx="502920" cy="50292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01184" y="1453896"/>
            <a:ext cx="5029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View in Checkr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17739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Report ID: chk_8f3k2mzx91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468880"/>
            <a:ext cx="3977639" cy="347472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00600" y="246888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Open Checkr 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29443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27688"/>
                </a:solidFill>
                <a:latin typeface="Calibri"/>
              </a:rPr>
              <a:t>KEY CAPABILITIES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3200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→  Full adverse action tools available in Checkr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362102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→  Dispute management handled within Checkr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40416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→  Match Fit auto-syncs compliance status on
report completion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44622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→  Notifications sent to trainer &amp; Match Fit admin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-914400"/>
            <a:ext cx="4572000" cy="2743200"/>
          </a:xfrm>
          <a:prstGeom prst="ellipse">
            <a:avLst/>
          </a:prstGeom>
          <a:solidFill>
            <a:srgbClr val="1A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7E00"/>
                </a:solidFill>
                <a:latin typeface="Calibri"/>
              </a:rPr>
              <a:t>INTEGRATION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What This Means for Match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4632" y="1298448"/>
            <a:ext cx="402336" cy="402336"/>
          </a:xfrm>
          <a:prstGeom prst="ellipse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80160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207007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FCRA-Compliant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49961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Checkr handles all consent, disclosure, and adverse action
workflows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1097280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9471" y="1298448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1" y="1280160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1207007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 Turnaround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149961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Most Standard packages complete in 1-3 business days.
Candidates can start sooner.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" y="2596896"/>
            <a:ext cx="402336" cy="402336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578608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50545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2798064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Match Fit displays live component statuses and syncs
compliance state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2395728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471" y="2596896"/>
            <a:ext cx="402336" cy="402336"/>
          </a:xfrm>
          <a:prstGeom prst="ellipse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1" y="2578608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250545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2798064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Direct link to full Checkr report, dispute tools,
and adverse action management.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94176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" y="3895344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877056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" y="38039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Job-Level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409651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Each role type can require a different package, ensuring
appropriate screening depth.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3694176"/>
            <a:ext cx="4206240" cy="1170432"/>
          </a:xfrm>
          <a:prstGeom prst="rect">
            <a:avLst/>
          </a:prstGeom>
          <a:solidFill>
            <a:srgbClr val="12151C"/>
          </a:solidFill>
          <a:ln w="9525">
            <a:solidFill>
              <a:srgbClr val="222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19471" y="3895344"/>
            <a:ext cx="402336" cy="402336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1" y="3877056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112" y="38039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Secure &amp; Private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409651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CA8"/>
                </a:solidFill>
                <a:latin typeface="Calibri"/>
              </a:rPr>
              <a:t>All data is encrypted in transit and handled within
Checkr's secure infrastructure.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A4D5E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